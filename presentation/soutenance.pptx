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LudiStore — fidélité et saisonnalité</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Séparer croissance, saisonnalité et fidélité ; tester une prévision hors période.</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Séparer croissance, saisonnalité et fidélité ; tester une prévision hors période.</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'ventes', 'brut': 180150, 'doublons': 150, 'rejets': 70, 'propre': 179930}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transactions : 179930</a:t>
            </a:r>
          </a:p>
          <a:p>
            <a:pPr>
              <a:spcAft>
                <a:spcPts val="1800"/>
              </a:spcAft>
              <a:defRPr sz="2000"/>
            </a:pPr>
            <a:r>
              <a:t>commandes : 89965</a:t>
            </a:r>
          </a:p>
          <a:p>
            <a:pPr>
              <a:spcAft>
                <a:spcPts val="1800"/>
              </a:spcAft>
              <a:defRPr sz="2000"/>
            </a:pPr>
            <a:r>
              <a:t>ca net : 10,671,885.2100</a:t>
            </a:r>
          </a:p>
          <a:p>
            <a:pPr>
              <a:spcAft>
                <a:spcPts val="1800"/>
              </a:spcAft>
              <a:defRPr sz="2000"/>
            </a:pPr>
            <a:r>
              <a:t>spearman age ca : 0.0064</a:t>
            </a:r>
          </a:p>
          <a:p>
            <a:pPr>
              <a:spcAft>
                <a:spcPts val="1800"/>
              </a:spcAft>
              <a:defRPr sz="2000"/>
            </a:pPr>
            <a:r>
              <a:t>spearman p : 0.5413</a:t>
            </a:r>
          </a:p>
          <a:p>
            <a:pPr>
              <a:spcAft>
                <a:spcPts val="1800"/>
              </a:spcAft>
              <a:defRPr sz="2000"/>
            </a:pPr>
            <a:r>
              <a:t>kruskal prix p : 0.2656</a:t>
            </a:r>
          </a:p>
          <a:p>
            <a:pPr>
              <a:spcAft>
                <a:spcPts val="1800"/>
              </a:spcAft>
              <a:defRPr sz="2000"/>
            </a:pPr>
            <a:r>
              <a:t>epsilon carre : 0.0004</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mae ets : 5,584.2982</a:t>
            </a:r>
          </a:p>
          <a:p>
            <a:pPr>
              <a:spcAft>
                <a:spcPts val="1800"/>
              </a:spcAft>
              <a:defRPr sz="2000"/>
            </a:pPr>
            <a:r>
              <a:t>mae naif : 24,544.8417</a:t>
            </a:r>
          </a:p>
          <a:p>
            <a:pPr>
              <a:spcAft>
                <a:spcPts val="1800"/>
              </a:spcAft>
              <a:defRPr sz="2000"/>
            </a:pPr>
            <a:r>
              <a:t>train mois : 30</a:t>
            </a:r>
          </a:p>
          <a:p>
            <a:pPr>
              <a:spcAft>
                <a:spcPts val="1800"/>
              </a:spcAft>
              <a:defRPr sz="2000"/>
            </a:pPr>
            <a:r>
              <a:t>test mois : 6</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179,930 lignes rapprochées ; statistiques clients calculées au grain client.</a:t>
            </a:r>
          </a:p>
          <a:p>
            <a:pPr>
              <a:spcAft>
                <a:spcPts val="1800"/>
              </a:spcAft>
              <a:defRPr sz="2000"/>
            </a:pPr>
            <a:r>
              <a:t>Spearman âge/dépense : 0.006 ; taille d’effet Kruskal : 0.0004.</a:t>
            </a:r>
          </a:p>
          <a:p>
            <a:pPr>
              <a:spcAft>
                <a:spcPts val="1800"/>
              </a:spcAft>
              <a:defRPr sz="2000"/>
            </a:pPr>
            <a:r>
              <a:t>MAE ETS six mois : 5,584 EUR ; baseline : 24,545 EUR.</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Decomposition</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pic>
        <p:nvPicPr>
          <p:cNvPr id="5" name="Picture 4" descr="decomposition.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Validation prevision</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pic>
        <p:nvPicPr>
          <p:cNvPr id="5" name="Picture 4" descr="validation_prevision.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Retention cohortes</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pic>
        <p:nvPicPr>
          <p:cNvPr id="5" name="Picture 4" descr="retention_cohortes.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Définir les unités d’analyse et les commandes partielles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table brute contient des lignes de commande, pas des commandes indépendantes. Une commande possède plusieurs articles, un client et une date. Les indicateurs de panier sont calculés après regroupement par commande ; les indicateurs de comportement sont calculés après regroupement par client.</a:t>
            </a:r>
          </a:p>
          <a:p>
            <a:pPr>
              <a:spcAft>
                <a:spcPts val="1800"/>
              </a:spcAft>
              <a:defRPr sz="2000"/>
            </a:pPr>
            <a:r>
              <a:t>Le nettoyage conserve 179 930 lignes. 0 commandes conservées ont moins de deux lignes valides, alors que le générateur en créait deux. Leur montant et leur panier peuvent donc être partiels ; cette limite doit accompagner toute comparaison de ticket moyen.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Distinguer tendance, saisonnalité et contribution du panier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Les 36 mois couvrent trois années complètes. Le générateur programme une saisonnalité des volumes et une progression graduelle. La décomposition STL sépare une tendance lissée, un effet saisonnier et un résidu sur la série complète ; c’est une analyse descriptive, pas un modèle entraîné pour prévoir le futur.</a:t>
            </a:r>
          </a:p>
          <a:p>
            <a:pPr>
              <a:spcAft>
                <a:spcPts val="1800"/>
              </a:spcAft>
              <a:defRPr sz="2000"/>
            </a:pPr>
            <a:r>
              <a:t>Le CA total de 10 671 885 EUR doit être lu avec le volume de commandes et le panier. Un changement de recettes ne démontre pas une hausse de fidélité ou un effet marketing. Les agrégats annuels permettent de voir quels composants bougent avant de proposer une explication.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Lire les cohortes et la concentration clients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Une cohorte regroupe les clients selon leur premier mois observé. La rétention au mois Mx est le nombre de clients actifs à cette ancienneté divisé par le nombre initial de clients de la cohorte. Un client peut être retenu à M3 sans l’être à M2 ; cette mesure décrit une activité mensuelle, pas une survie continue.</a:t>
            </a:r>
          </a:p>
          <a:p>
            <a:pPr>
              <a:spcAft>
                <a:spcPts val="1800"/>
              </a:spcAft>
              <a:defRPr sz="2000"/>
            </a:pPr>
            <a:r>
              <a:t>Les cellules futures restent non observées. Les mois déjà écoulés sans achat valent zéro. Remplacer les cellules futures par zéro dégraderait artificiellement les cohortes récentes. La moyenne publiée est pondérée par les effectifs initiaux des seules cohortes observables à l’ancienneté considérée.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Interpréter les tests au-delà d’un seuil de p-value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Spearman âge/montant donne rho = 0,0064 et p = 0,5413. Le coefficient décrit une association monotone entre deux variables clients ; il ne concerne pas les lignes de ventes répétées. Son amplitude très faible limite l’intérêt d’un ciblage fondé sur l’âge.</a:t>
            </a:r>
          </a:p>
          <a:p>
            <a:pPr>
              <a:spcAft>
                <a:spcPts val="1800"/>
              </a:spcAft>
              <a:defRPr sz="2000"/>
            </a:pPr>
            <a:r>
              <a:t>Le test Kruskal comparant les prix des articles par catégorie donne p = 0,2656 et une taille d’effet epsilon carré de 0,00036. Les résultats ne démontrent pas une différence commerciale importante entre les distributions de prix de ce catalogue simulé.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Challenger la prévision et ses intervalles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test comprend six mois consécutifs, après trente mois d’apprentissage. L’ETS atteint une MAE de 5 584 EUR contre 24 545 EUR, soit une amélioration relative de 77,2 %. Cette réussite ne couvre qu’une fenêtre test et une saisonnalité programmée.</a:t>
            </a:r>
          </a:p>
          <a:p>
            <a:pPr>
              <a:spcAft>
                <a:spcPts val="1800"/>
              </a:spcAft>
              <a:defRPr sz="2000"/>
            </a:pPr>
            <a:r>
              <a:t>Le biais moyen ETS (prédiction moins réel) vaut 3 987 EUR. Une MAE faible peut masquer une surestimation systématique ; le biais et les erreurs par mois complètent donc la moyenne absolue. Les deux méthodes sont évaluées sur les mêmes six observations.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Retenir une prévision seulement si elle améliore la référence saisonnière.</a:t>
            </a:r>
          </a:p>
          <a:p>
            <a:pPr>
              <a:spcAft>
                <a:spcPts val="1800"/>
              </a:spcAft>
              <a:defRPr sz="2000"/>
            </a:pPr>
            <a:r>
              <a:t>Comparer les cohortes à ancienneté égale.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Tests descriptifs sur simulation, aucune causalité réelle.</a:t>
            </a:r>
          </a:p>
          <a:p>
            <a:pPr>
              <a:spcAft>
                <a:spcPts val="1800"/>
              </a:spcAft>
              <a:defRPr sz="2000"/>
            </a:pPr>
            <a:r>
              <a:t>Bootstrap des résidus indicatif, sans garantie de couverture avec autocorrélation.</a:t>
            </a:r>
          </a:p>
          <a:p>
            <a:pPr>
              <a:spcAft>
                <a:spcPts val="1800"/>
              </a:spcAft>
              <a:defRPr sz="2000"/>
            </a:pPr>
            <a:r>
              <a:t>Cellules des cohortes non observées vides ; elles ne valent pas zéro.</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LudiStore</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